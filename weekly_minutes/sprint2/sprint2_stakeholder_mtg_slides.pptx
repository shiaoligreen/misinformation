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hivo Black" charset="1" panose="020B0A03020202020B04"/>
      <p:regular r:id="rId13"/>
    </p:embeddedFont>
    <p:embeddedFont>
      <p:font typeface="Garet Bold" charset="1" panose="00000000000000000000"/>
      <p:regular r:id="rId14"/>
    </p:embeddedFont>
    <p:embeddedFont>
      <p:font typeface="Garet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https://github.ubc.ca/shiaolig/COLX_523_misinformation/tree/main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huggingface.co/datasets/roupenminassian/twitter-misinformation" TargetMode="External" Type="http://schemas.openxmlformats.org/officeDocument/2006/relationships/hyperlink"/><Relationship Id="rId4" Target="https://news.google.com/rss/search?q=computational+linguistics" TargetMode="External" Type="http://schemas.openxmlformats.org/officeDocument/2006/relationships/hyperlink"/><Relationship Id="rId5" Target="https://github.ubc.ca/shiaolig/COLX_523_misinformation/blob/main/src/News_Scraper.py" TargetMode="External" Type="http://schemas.openxmlformats.org/officeDocument/2006/relationships/hyperlink"/><Relationship Id="rId6" Target="../media/image10.png" Type="http://schemas.openxmlformats.org/officeDocument/2006/relationships/image"/><Relationship Id="rId7" Target="https://github.ubc.ca/shiaolig/COLX_523_misinformation/blob/main/src/Dataset_Builder.py" TargetMode="External" Type="http://schemas.openxmlformats.org/officeDocument/2006/relationships/hyperlink"/><Relationship Id="rId8" Target="https://github.ubc.ca/shiaolig/COLX_523_misinformation/blob/main/reports/corpus_readme.md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85470" y="6394076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Stakeholder Meeting: Friday, February 27,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 OF PROJECT: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 COLX_523: Misinformation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94796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94796" y="8966251"/>
            <a:ext cx="3366096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Jennifer, Shiao-li, Nicole, Rachelle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0892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TO: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0892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Changbing Yang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4017" y="2965488"/>
            <a:ext cx="13305283" cy="338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LINGUISTIC MISINFORMATION MARKERS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0862" y="1220824"/>
            <a:ext cx="1981771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15642" y="2908888"/>
          <a:ext cx="6511183" cy="4114800"/>
        </p:xfrm>
        <a:graphic>
          <a:graphicData uri="http://schemas.openxmlformats.org/drawingml/2006/table">
            <a:tbl>
              <a:tblPr/>
              <a:tblGrid>
                <a:gridCol w="866395"/>
                <a:gridCol w="5025021"/>
              </a:tblGrid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Project Proposal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Data Storage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Corpus Collection &amp; Basic Information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Annotation Plan &amp; Schema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07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Next Steps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04641" y="2439692"/>
            <a:ext cx="653146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2617" y="5105400"/>
            <a:ext cx="627712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News and social media texts will have measurable differences in linguistic features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9569" y="2465659"/>
            <a:ext cx="197063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RESEARCH QUESTION: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55907" y="4001198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Proposal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9569" y="7017359"/>
            <a:ext cx="1939765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ANNOTATION TASK: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30278" y="7017359"/>
            <a:ext cx="581372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operates at both the token span and document level: annotators will tag specific linguistic features within the text (token), as well as classify the overall category of the document (document-level sentiment)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54169" y="2456134"/>
            <a:ext cx="6394022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What linguistic markers distinguish misinformation from factual/verified information in news articles, news headlines and social media posts?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 there a way to distinguish a third category of information?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4134" y="5105400"/>
            <a:ext cx="197063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HYPOTHESIS: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05183" y="2897471"/>
            <a:ext cx="5578231" cy="6419188"/>
          </a:xfrm>
          <a:custGeom>
            <a:avLst/>
            <a:gdLst/>
            <a:ahLst/>
            <a:cxnLst/>
            <a:rect r="r" b="b" t="t" l="l"/>
            <a:pathLst>
              <a:path h="6419188" w="5578231">
                <a:moveTo>
                  <a:pt x="0" y="0"/>
                </a:moveTo>
                <a:lnTo>
                  <a:pt x="5578231" y="0"/>
                </a:lnTo>
                <a:lnTo>
                  <a:pt x="5578231" y="6419187"/>
                </a:lnTo>
                <a:lnTo>
                  <a:pt x="0" y="6419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9" t="0" r="-48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912665"/>
            <a:ext cx="5240358" cy="4388800"/>
          </a:xfrm>
          <a:custGeom>
            <a:avLst/>
            <a:gdLst/>
            <a:ahLst/>
            <a:cxnLst/>
            <a:rect r="r" b="b" t="t" l="l"/>
            <a:pathLst>
              <a:path h="4388800" w="5240358">
                <a:moveTo>
                  <a:pt x="0" y="0"/>
                </a:moveTo>
                <a:lnTo>
                  <a:pt x="5240358" y="0"/>
                </a:lnTo>
                <a:lnTo>
                  <a:pt x="5240358" y="4388800"/>
                </a:lnTo>
                <a:lnTo>
                  <a:pt x="0" y="4388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557564"/>
            <a:ext cx="727903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Storage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30366" y="8912516"/>
            <a:ext cx="415387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5" tooltip="https://github.ubc.ca/shiaolig/COLX_523_misinformation/tree/main"/>
              </a:rPr>
              <a:t>Link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to repo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55907" y="2599009"/>
            <a:ext cx="7428071" cy="226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Corpus Collection &amp; Basic Corpus Information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9569" y="2465659"/>
            <a:ext cx="197063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SOURCES: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54169" y="2456134"/>
            <a:ext cx="6394022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RAW DATA: </a:t>
            </a: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3" tooltip="https://huggingface.co/datasets/roupenminassian/twitter-misinformation"/>
              </a:rPr>
              <a:t>Hugging Face Roupeminassian Twitter Misinformation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WEB SCRAPING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4" tooltip="https://news.google.com/rss/search?q=computational+linguistics"/>
              </a:rPr>
              <a:t>Google News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&amp; </a:t>
            </a: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5" tooltip="https://github.ubc.ca/shiaolig/COLX_523_misinformation/blob/main/src/News_Scraper.py"/>
              </a:rPr>
              <a:t>News_Scraper.py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89914" y="4620664"/>
            <a:ext cx="8242302" cy="4687809"/>
          </a:xfrm>
          <a:custGeom>
            <a:avLst/>
            <a:gdLst/>
            <a:ahLst/>
            <a:cxnLst/>
            <a:rect r="r" b="b" t="t" l="l"/>
            <a:pathLst>
              <a:path h="4687809" w="8242302">
                <a:moveTo>
                  <a:pt x="0" y="0"/>
                </a:moveTo>
                <a:lnTo>
                  <a:pt x="8242302" y="0"/>
                </a:lnTo>
                <a:lnTo>
                  <a:pt x="8242302" y="4687809"/>
                </a:lnTo>
                <a:lnTo>
                  <a:pt x="0" y="46878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55907" y="5490729"/>
            <a:ext cx="197063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COMPILATION CODE: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58938" y="5490094"/>
            <a:ext cx="429167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7" tooltip="https://github.ubc.ca/shiaolig/COLX_523_misinformation/blob/main/src/Dataset_Builder.py"/>
              </a:rPr>
              <a:t>Dataset_Builder.py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24355" y="7280070"/>
            <a:ext cx="1970633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CORPUS README: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8938" y="7279435"/>
            <a:ext cx="429167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8" tooltip="https://github.ubc.ca/shiaolig/COLX_523_misinformation/blob/main/reports/corpus_readme.md"/>
              </a:rPr>
              <a:t>Basic Stats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4299404"/>
            <a:ext cx="11301259" cy="4223846"/>
          </a:xfrm>
          <a:custGeom>
            <a:avLst/>
            <a:gdLst/>
            <a:ahLst/>
            <a:cxnLst/>
            <a:rect r="r" b="b" t="t" l="l"/>
            <a:pathLst>
              <a:path h="4223846" w="11301259">
                <a:moveTo>
                  <a:pt x="0" y="0"/>
                </a:moveTo>
                <a:lnTo>
                  <a:pt x="11301258" y="0"/>
                </a:lnTo>
                <a:lnTo>
                  <a:pt x="11301258" y="4223845"/>
                </a:lnTo>
                <a:lnTo>
                  <a:pt x="0" y="4223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62887"/>
            <a:ext cx="1134864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Annotation Plan &amp; Schema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74624"/>
            <a:ext cx="12257271" cy="176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Proposal listed many potential linguistic markers</a:t>
            </a:r>
          </a:p>
          <a:p>
            <a:pPr algn="l">
              <a:lnSpc>
                <a:spcPts val="3779"/>
              </a:lnSpc>
            </a:pPr>
          </a:p>
          <a:p>
            <a:pPr algn="l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Refined through Pilot Study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012976" y="3275326"/>
            <a:ext cx="9444847" cy="4651587"/>
          </a:xfrm>
          <a:custGeom>
            <a:avLst/>
            <a:gdLst/>
            <a:ahLst/>
            <a:cxnLst/>
            <a:rect r="r" b="b" t="t" l="l"/>
            <a:pathLst>
              <a:path h="4651587" w="9444847">
                <a:moveTo>
                  <a:pt x="0" y="0"/>
                </a:moveTo>
                <a:lnTo>
                  <a:pt x="9444847" y="0"/>
                </a:lnTo>
                <a:lnTo>
                  <a:pt x="9444847" y="4651587"/>
                </a:lnTo>
                <a:lnTo>
                  <a:pt x="0" y="4651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42303" y="1123950"/>
            <a:ext cx="720339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Next Steps &amp; 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7046" y="3875386"/>
            <a:ext cx="5813722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Annotation!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DAHCiWPhBvg</dc:identifier>
  <dcterms:modified xsi:type="dcterms:W3CDTF">2011-08-01T06:04:30Z</dcterms:modified>
  <cp:revision>1</cp:revision>
  <dc:title>sprint 2 slidedeck</dc:title>
</cp:coreProperties>
</file>